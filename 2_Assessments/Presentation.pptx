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9"/>
  </p:notesMasterIdLst>
  <p:sldIdLst>
    <p:sldId id="256" r:id="rId2"/>
    <p:sldId id="257" r:id="rId3"/>
    <p:sldId id="264" r:id="rId4"/>
    <p:sldId id="259" r:id="rId5"/>
    <p:sldId id="260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404" autoAdjust="0"/>
  </p:normalViewPr>
  <p:slideViewPr>
    <p:cSldViewPr snapToGrid="0">
      <p:cViewPr>
        <p:scale>
          <a:sx n="66" d="100"/>
          <a:sy n="66" d="100"/>
        </p:scale>
        <p:origin x="57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2FBDF2-7173-4D40-BFDF-3D16BD70263F}" type="datetimeFigureOut">
              <a:rPr lang="LID4096" smtClean="0"/>
              <a:t>01/22/2026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84DB6F-7A45-4685-89E1-9D49E8BF0FA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2948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One-sentence purpose: </a:t>
            </a:r>
            <a:r>
              <a:rPr lang="en-US" i="1" dirty="0"/>
              <a:t>A real-time system that processes audio signals, visualizes them, and drives ambient lighting.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84DB6F-7A45-4685-89E1-9D49E8BF0FA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79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84DB6F-7A45-4685-89E1-9D49E8BF0FA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60975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Buffer ping pong </a:t>
            </a:r>
            <a:r>
              <a:rPr lang="en-US" dirty="0" err="1"/>
              <a:t>zeugs</a:t>
            </a:r>
            <a:r>
              <a:rPr lang="en-US" dirty="0"/>
              <a:t> </a:t>
            </a:r>
          </a:p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84DB6F-7A45-4685-89E1-9D49E8BF0FAF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45102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5C45A-6154-480D-817B-376F67477109}" type="datetime1">
              <a:rPr lang="LID4096" smtClean="0"/>
              <a:t>01/22/2026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737237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16A3C-6DA4-421F-9EB3-CE278E2D9ACF}" type="datetime1">
              <a:rPr lang="LID4096" smtClean="0"/>
              <a:t>01/22/2026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89522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5B8FC-4128-41AB-8A57-F6C014E22740}" type="datetime1">
              <a:rPr lang="LID4096" smtClean="0"/>
              <a:t>01/22/2026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160951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38C93-4F79-462B-9C10-B267891C47CB}" type="datetime1">
              <a:rPr lang="LID4096" smtClean="0"/>
              <a:t>01/22/2026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654198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59C1AD-3D96-4FC5-B305-A498E1054DC9}" type="datetime1">
              <a:rPr lang="LID4096" smtClean="0"/>
              <a:t>01/22/2026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051528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CF797-3721-4506-B914-953F6028E34E}" type="datetime1">
              <a:rPr lang="LID4096" smtClean="0"/>
              <a:t>01/22/2026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311409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3144E-0369-40E6-9461-DDB7121F9559}" type="datetime1">
              <a:rPr lang="LID4096" smtClean="0"/>
              <a:t>01/22/2026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936909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37BDC-88D3-41EA-9BD5-A1A4B0A2E6D6}" type="datetime1">
              <a:rPr lang="LID4096" smtClean="0"/>
              <a:t>01/22/2026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95496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92F63-2EEE-4662-90AC-BAC2B03C899B}" type="datetime1">
              <a:rPr lang="LID4096" smtClean="0"/>
              <a:t>01/22/2026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866231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38155-2FCE-4DF1-8FB5-CB83D50D7FD3}" type="datetime1">
              <a:rPr lang="LID4096" smtClean="0"/>
              <a:t>01/22/2026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7302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DF094-9F95-4180-A328-0FE09C819BA4}" type="datetime1">
              <a:rPr lang="LID4096" smtClean="0"/>
              <a:t>01/22/2026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609760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7F67F3-5FE4-43BA-9923-B51B7516B04A}" type="datetime1">
              <a:rPr lang="LID4096" smtClean="0"/>
              <a:t>01/22/2026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578473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87828-90D4-4F1E-B532-08BFCF773FAB}" type="datetime1">
              <a:rPr lang="LID4096" smtClean="0"/>
              <a:t>01/22/2026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097735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ACD6-BDBA-4B51-93EB-2B15C322252D}" type="datetime1">
              <a:rPr lang="LID4096" smtClean="0"/>
              <a:t>01/22/2026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757070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D2B83-2292-40DC-8531-6F4723D19641}" type="datetime1">
              <a:rPr lang="LID4096" smtClean="0"/>
              <a:t>01/22/2026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58472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58D76-E055-4274-93B1-38E99EC288CD}" type="datetime1">
              <a:rPr lang="LID4096" smtClean="0"/>
              <a:t>01/22/2026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916752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7D2406EC-D1E0-4E89-A33A-D5189C0404E5}" type="datetime1">
              <a:rPr lang="LID4096" smtClean="0"/>
              <a:t>01/22/2026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945672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36103C-0325-4118-AC36-B361EBCE1992}" type="datetime1">
              <a:rPr lang="LID4096" smtClean="0"/>
              <a:t>01/22/2026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067097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microsoft.com/office/2007/relationships/hdphoto" Target="../media/hdphoto3.wdp"/><Relationship Id="rId5" Type="http://schemas.openxmlformats.org/officeDocument/2006/relationships/image" Target="../media/image12.png"/><Relationship Id="rId4" Type="http://schemas.microsoft.com/office/2007/relationships/hdphoto" Target="../media/hdphoto2.wdp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19470F7E-8BCA-4BF0-8826-70C82A5860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76" y="0"/>
            <a:ext cx="12192000" cy="6858001"/>
            <a:chOff x="-3176" y="0"/>
            <a:chExt cx="12192000" cy="6858001"/>
          </a:xfrm>
        </p:grpSpPr>
        <p:sp useBgFill="1">
          <p:nvSpPr>
            <p:cNvPr id="43" name="Rectangle 42">
              <a:extLst>
                <a:ext uri="{FF2B5EF4-FFF2-40B4-BE49-F238E27FC236}">
                  <a16:creationId xmlns:a16="http://schemas.microsoft.com/office/drawing/2014/main" id="{4D31C0EB-6D29-4F6B-83BA-6F2A293879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88824" cy="685800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2416D661-147C-494A-A6F4-86E638856A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1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76" y="0"/>
              <a:ext cx="12192000" cy="6858000"/>
            </a:xfrm>
            <a:prstGeom prst="rect">
              <a:avLst/>
            </a:prstGeom>
          </p:spPr>
        </p:pic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BCF7CF76-A98A-4A2E-AB5C-0F80C3E0F3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4340981"/>
            <a:ext cx="8968085" cy="1660332"/>
          </a:xfrm>
          <a:prstGeom prst="rect">
            <a:avLst/>
          </a:prstGeom>
          <a:solidFill>
            <a:schemeClr val="bg1">
              <a:lumMod val="95000"/>
              <a:lumOff val="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1209D2-B6D1-F320-0CED-4D60EC4537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0322" y="4494107"/>
            <a:ext cx="8133478" cy="940240"/>
          </a:xfrm>
        </p:spPr>
        <p:txBody>
          <a:bodyPr>
            <a:normAutofit/>
          </a:bodyPr>
          <a:lstStyle/>
          <a:p>
            <a:pPr algn="l"/>
            <a:r>
              <a:rPr lang="en-US" sz="3000" dirty="0"/>
              <a:t>Audio Processing and </a:t>
            </a:r>
            <a:br>
              <a:rPr lang="en-US" sz="3000" dirty="0"/>
            </a:br>
            <a:r>
              <a:rPr lang="en-US" sz="3000" dirty="0"/>
              <a:t>Ambient Light Control Device</a:t>
            </a:r>
            <a:endParaRPr lang="LID4096" sz="3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0054BB-096D-9D1A-DABA-BAC6884564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0322" y="5539562"/>
            <a:ext cx="8133478" cy="406566"/>
          </a:xfrm>
        </p:spPr>
        <p:txBody>
          <a:bodyPr>
            <a:normAutofit/>
          </a:bodyPr>
          <a:lstStyle/>
          <a:p>
            <a:pPr algn="l"/>
            <a:r>
              <a:rPr lang="en-US" sz="1800" dirty="0"/>
              <a:t>Bogdans </a:t>
            </a:r>
            <a:r>
              <a:rPr lang="en-US" sz="1800" dirty="0" err="1"/>
              <a:t>Grebnevs</a:t>
            </a:r>
            <a:r>
              <a:rPr lang="en-US" sz="1800" dirty="0"/>
              <a:t> – Thomas S. Perri</a:t>
            </a:r>
            <a:endParaRPr lang="LID4096" sz="1800" dirty="0"/>
          </a:p>
        </p:txBody>
      </p:sp>
      <p:pic>
        <p:nvPicPr>
          <p:cNvPr id="5" name="Picture 4" descr="Audio sound board">
            <a:extLst>
              <a:ext uri="{FF2B5EF4-FFF2-40B4-BE49-F238E27FC236}">
                <a16:creationId xmlns:a16="http://schemas.microsoft.com/office/drawing/2014/main" id="{6ECD1D21-B9B4-DE56-66A5-10F0270DD30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5310" r="2" b="4534"/>
          <a:stretch>
            <a:fillRect/>
          </a:stretch>
        </p:blipFill>
        <p:spPr>
          <a:xfrm>
            <a:off x="-2" y="10"/>
            <a:ext cx="8966200" cy="4198928"/>
          </a:xfrm>
          <a:prstGeom prst="rect">
            <a:avLst/>
          </a:prstGeom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631EC2-0ACA-5EC6-21CC-11EB0D8DF7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7600" r="90000">
                        <a14:foregroundMark x1="33667" y1="34600" x2="39533" y2="28650"/>
                        <a14:foregroundMark x1="39533" y1="28650" x2="43533" y2="34500"/>
                        <a14:foregroundMark x1="30400" y1="34200" x2="40867" y2="27750"/>
                        <a14:foregroundMark x1="40867" y1="27750" x2="43000" y2="27600"/>
                        <a14:foregroundMark x1="41400" y1="26000" x2="41533" y2="25600"/>
                        <a14:foregroundMark x1="41533" y1="24650" x2="41533" y2="24650"/>
                        <a14:foregroundMark x1="42467" y1="24250" x2="41733" y2="23850"/>
                        <a14:foregroundMark x1="39200" y1="27450" x2="30733" y2="31000"/>
                        <a14:foregroundMark x1="30733" y1="31000" x2="29733" y2="32750"/>
                        <a14:foregroundMark x1="30400" y1="30700" x2="29333" y2="31100"/>
                        <a14:foregroundMark x1="31333" y1="29900" x2="38333" y2="27600"/>
                        <a14:foregroundMark x1="23067" y1="42000" x2="25733" y2="37300"/>
                        <a14:foregroundMark x1="9933" y1="45400" x2="8667" y2="45100"/>
                        <a14:foregroundMark x1="10667" y1="47250" x2="7600" y2="45250"/>
                        <a14:foregroundMark x1="10133" y1="44700" x2="38000" y2="34350"/>
                        <a14:foregroundMark x1="8667" y1="46350" x2="13733" y2="50650"/>
                        <a14:foregroundMark x1="17333" y1="42700" x2="28800" y2="37050"/>
                        <a14:foregroundMark x1="19667" y1="38800" x2="19667" y2="38800"/>
                        <a14:foregroundMark x1="21800" y1="38100" x2="21800" y2="38100"/>
                        <a14:backgroundMark x1="25400" y1="35300" x2="25400" y2="35300"/>
                        <a14:backgroundMark x1="23267" y1="33150" x2="9867" y2="38400"/>
                        <a14:backgroundMark x1="9867" y1="38400" x2="6533" y2="4095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803" t="22171" r="6257" b="9594"/>
          <a:stretch>
            <a:fillRect/>
          </a:stretch>
        </p:blipFill>
        <p:spPr>
          <a:xfrm>
            <a:off x="8133346" y="36837"/>
            <a:ext cx="4058653" cy="4198929"/>
          </a:xfrm>
          <a:prstGeom prst="rect">
            <a:avLst/>
          </a:prstGeom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39AD03C5-BB70-446F-A0F2-944E1DC60E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11715" y="4340981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63AA29F-E141-4C98-9459-3FD5574446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993754"/>
            <a:ext cx="8968085" cy="275942"/>
          </a:xfrm>
          <a:prstGeom prst="rect">
            <a:avLst/>
          </a:prstGeom>
          <a:blipFill>
            <a:blip r:embed="rId7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39563E9-66E2-46EA-802F-5AFFE653EE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11715" y="5993754"/>
            <a:ext cx="3080285" cy="275942"/>
          </a:xfrm>
          <a:prstGeom prst="rect">
            <a:avLst/>
          </a:prstGeom>
          <a:blipFill>
            <a:blip r:embed="rId8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881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79A94-4305-6E62-7845-544ADECFC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</a:t>
            </a:r>
            <a:r>
              <a:rPr lang="de-DE" dirty="0" err="1"/>
              <a:t>Overview</a:t>
            </a:r>
            <a:r>
              <a:rPr lang="de-DE" dirty="0"/>
              <a:t> &amp; Signal Flow</a:t>
            </a:r>
            <a:endParaRPr lang="LID4096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BA2F397-7311-AA60-50B7-CA07825886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977811" y="2346036"/>
            <a:ext cx="10236378" cy="3758736"/>
          </a:xfrm>
          <a:ln w="76200">
            <a:solidFill>
              <a:schemeClr val="bg1"/>
            </a:solidFill>
          </a:ln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3FB2BF-0829-389B-5D93-8F5F60EEC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2</a:t>
            </a:fld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6105788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8EBC5-A59D-604E-C160-7BDF6743E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Analog Front-End &amp; Output Path</a:t>
            </a:r>
            <a:endParaRPr lang="LID4096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60ECDA9-1441-EA94-A255-573976A23D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0319" y="1923615"/>
            <a:ext cx="5157787" cy="540000"/>
          </a:xfrm>
        </p:spPr>
        <p:txBody>
          <a:bodyPr>
            <a:normAutofit/>
          </a:bodyPr>
          <a:lstStyle/>
          <a:p>
            <a:pPr algn="ctr"/>
            <a:r>
              <a:rPr lang="en-GB" sz="28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Anti-aliasing Filter</a:t>
            </a:r>
            <a:endParaRPr lang="LID4096" sz="2800" dirty="0">
              <a:solidFill>
                <a:schemeClr val="bg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BE0B3869-339F-8366-24B5-445DABBC3CF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4189" y="2544144"/>
            <a:ext cx="4268371" cy="4140000"/>
          </a:xfrm>
          <a:prstGeom prst="rect">
            <a:avLst/>
          </a:prstGeom>
          <a:ln w="76200">
            <a:solidFill>
              <a:schemeClr val="bg1"/>
            </a:solidFill>
          </a:ln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9848532-673B-D0E7-13CE-12A163024A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5987" y="1919155"/>
            <a:ext cx="5183188" cy="540000"/>
          </a:xfrm>
        </p:spPr>
        <p:txBody>
          <a:bodyPr>
            <a:normAutofit/>
          </a:bodyPr>
          <a:lstStyle/>
          <a:p>
            <a:pPr algn="ctr"/>
            <a:r>
              <a:rPr lang="en-GB" sz="28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Reconstruction Filter</a:t>
            </a:r>
            <a:endParaRPr lang="LID4096" sz="2800" dirty="0">
              <a:solidFill>
                <a:schemeClr val="bg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451F78EF-64E2-785F-05E0-ACFCFCABC5FA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442" y="2544144"/>
            <a:ext cx="4236279" cy="4140000"/>
          </a:xfrm>
          <a:prstGeom prst="rect">
            <a:avLst/>
          </a:prstGeom>
          <a:ln w="76200">
            <a:solidFill>
              <a:schemeClr val="bg1"/>
            </a:solidFill>
          </a:ln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428908-7CE8-933E-4FDD-2BFC23433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014490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B4032-00DB-F33B-FA11-AB9E7EB0B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Digital Signal Processing &amp; Analysis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C64300-E58A-2053-CA75-305E2F7DB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4</a:t>
            </a:fld>
            <a:endParaRPr lang="LID4096"/>
          </a:p>
        </p:txBody>
      </p:sp>
      <p:pic>
        <p:nvPicPr>
          <p:cNvPr id="13" name="Picture 6">
            <a:extLst>
              <a:ext uri="{FF2B5EF4-FFF2-40B4-BE49-F238E27FC236}">
                <a16:creationId xmlns:a16="http://schemas.microsoft.com/office/drawing/2014/main" id="{22897490-638C-E69A-223B-2267A2EF2DB7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779" t="40179" r="21175" b="11534"/>
          <a:stretch>
            <a:fillRect/>
          </a:stretch>
        </p:blipFill>
        <p:spPr bwMode="auto">
          <a:xfrm>
            <a:off x="1568917" y="2141218"/>
            <a:ext cx="3399944" cy="4464000"/>
          </a:xfrm>
          <a:prstGeom prst="rect">
            <a:avLst/>
          </a:prstGeom>
          <a:noFill/>
          <a:ln w="76200"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8">
            <a:extLst>
              <a:ext uri="{FF2B5EF4-FFF2-40B4-BE49-F238E27FC236}">
                <a16:creationId xmlns:a16="http://schemas.microsoft.com/office/drawing/2014/main" id="{D93961E2-E698-0E67-A179-869B0712BF9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0241" t="32276" r="22801" b="12789"/>
          <a:stretch>
            <a:fillRect/>
          </a:stretch>
        </p:blipFill>
        <p:spPr bwMode="auto">
          <a:xfrm>
            <a:off x="6516776" y="2141218"/>
            <a:ext cx="3470595" cy="4464000"/>
          </a:xfrm>
          <a:prstGeom prst="rect">
            <a:avLst/>
          </a:prstGeom>
          <a:noFill/>
          <a:ln w="76200"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56335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4A6AE-FEFB-1A36-6B52-B83DEFD6D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Ambient Light Control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8C6E6-D215-7647-5D86-FED537CBC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5</a:t>
            </a:fld>
            <a:endParaRPr lang="LID4096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0F8D538-9105-56BF-603F-6524568F8E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605766"/>
              </p:ext>
            </p:extLst>
          </p:nvPr>
        </p:nvGraphicFramePr>
        <p:xfrm>
          <a:off x="680321" y="2680794"/>
          <a:ext cx="8782588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647">
                  <a:extLst>
                    <a:ext uri="{9D8B030D-6E8A-4147-A177-3AD203B41FA5}">
                      <a16:colId xmlns:a16="http://schemas.microsoft.com/office/drawing/2014/main" val="991101001"/>
                    </a:ext>
                  </a:extLst>
                </a:gridCol>
                <a:gridCol w="2195647">
                  <a:extLst>
                    <a:ext uri="{9D8B030D-6E8A-4147-A177-3AD203B41FA5}">
                      <a16:colId xmlns:a16="http://schemas.microsoft.com/office/drawing/2014/main" val="3035405401"/>
                    </a:ext>
                  </a:extLst>
                </a:gridCol>
                <a:gridCol w="2195647">
                  <a:extLst>
                    <a:ext uri="{9D8B030D-6E8A-4147-A177-3AD203B41FA5}">
                      <a16:colId xmlns:a16="http://schemas.microsoft.com/office/drawing/2014/main" val="2845564786"/>
                    </a:ext>
                  </a:extLst>
                </a:gridCol>
                <a:gridCol w="2195647">
                  <a:extLst>
                    <a:ext uri="{9D8B030D-6E8A-4147-A177-3AD203B41FA5}">
                      <a16:colId xmlns:a16="http://schemas.microsoft.com/office/drawing/2014/main" val="670825058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chemeClr val="bg1">
                              <a:lumMod val="95000"/>
                              <a:lumOff val="5000"/>
                            </a:schemeClr>
                          </a:solidFill>
                        </a:rPr>
                        <a:t>0 Hz           250 Hz</a:t>
                      </a:r>
                      <a:endParaRPr lang="en-CH" dirty="0">
                        <a:solidFill>
                          <a:schemeClr val="bg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anchor="ctr">
                    <a:lnL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chemeClr val="bg1">
                              <a:lumMod val="95000"/>
                              <a:lumOff val="5000"/>
                            </a:schemeClr>
                          </a:solidFill>
                        </a:rPr>
                        <a:t>2 kHz</a:t>
                      </a:r>
                      <a:endParaRPr lang="en-CH" dirty="0">
                        <a:solidFill>
                          <a:schemeClr val="bg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anchor="ctr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chemeClr val="bg1">
                              <a:lumMod val="95000"/>
                              <a:lumOff val="5000"/>
                            </a:schemeClr>
                          </a:solidFill>
                        </a:rPr>
                        <a:t>4 kHz</a:t>
                      </a:r>
                      <a:endParaRPr lang="en-CH" dirty="0">
                        <a:solidFill>
                          <a:schemeClr val="bg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anchor="ctr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chemeClr val="bg1">
                              <a:lumMod val="95000"/>
                              <a:lumOff val="5000"/>
                            </a:schemeClr>
                          </a:solidFill>
                        </a:rPr>
                        <a:t>20 kHz</a:t>
                      </a:r>
                      <a:endParaRPr lang="en-CH" dirty="0">
                        <a:solidFill>
                          <a:schemeClr val="bg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anchor="ctr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264001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148EE2A-B922-8AA9-C799-98255F2FA8B8}"/>
              </a:ext>
            </a:extLst>
          </p:cNvPr>
          <p:cNvSpPr txBox="1"/>
          <p:nvPr/>
        </p:nvSpPr>
        <p:spPr>
          <a:xfrm>
            <a:off x="680321" y="2145603"/>
            <a:ext cx="6380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Freuqency</a:t>
            </a:r>
            <a:r>
              <a:rPr lang="en-US" sz="2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 based color selection</a:t>
            </a:r>
            <a:endParaRPr lang="en-CH" sz="2400" dirty="0">
              <a:solidFill>
                <a:schemeClr val="bg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6179AB-CED6-6535-E791-0BABF2C9CCFE}"/>
              </a:ext>
            </a:extLst>
          </p:cNvPr>
          <p:cNvSpPr txBox="1"/>
          <p:nvPr/>
        </p:nvSpPr>
        <p:spPr>
          <a:xfrm>
            <a:off x="680321" y="3294320"/>
            <a:ext cx="85006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Brightness dictated by the RMS value of given frequency bin</a:t>
            </a:r>
            <a:endParaRPr lang="en-CH" sz="2400" dirty="0">
              <a:solidFill>
                <a:schemeClr val="bg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9009403-26E3-3458-0FA9-B3D68859CF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82" b="89958" l="7217" r="89976">
                        <a14:foregroundMark x1="11387" y1="66266" x2="7217" y2="58870"/>
                        <a14:foregroundMark x1="7217" y1="58870" x2="10265" y2="59771"/>
                        <a14:foregroundMark x1="11387" y1="56705" x2="8982" y2="48587"/>
                        <a14:foregroundMark x1="8982" y1="48587" x2="17402" y2="37342"/>
                        <a14:foregroundMark x1="49158" y1="56885" x2="49559" y2="56705"/>
                        <a14:backgroundMark x1="46993" y1="81840" x2="65277" y2="70174"/>
                        <a14:backgroundMark x1="65277" y1="70174" x2="74579" y2="56524"/>
                        <a14:backgroundMark x1="74579" y1="56524" x2="75782" y2="55863"/>
                        <a14:backgroundMark x1="70730" y1="60373" x2="72975" y2="5724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142" t="25209" r="25346" b="24192"/>
          <a:stretch>
            <a:fillRect/>
          </a:stretch>
        </p:blipFill>
        <p:spPr bwMode="auto">
          <a:xfrm flipH="1">
            <a:off x="8625543" y="3429000"/>
            <a:ext cx="3337277" cy="32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45495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EA998-31C1-3DA7-C044-55B8CC85E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Highlight: Audio Effects &amp; Filter Menu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6C206-2B5B-5322-79B6-7D61F06B3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2" y="2336873"/>
            <a:ext cx="4536572" cy="4063927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Simple audio filters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Low-Pass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High-Pass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Band-Pass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Notch</a:t>
            </a:r>
          </a:p>
          <a:p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Select on the fly with the blue user button</a:t>
            </a:r>
          </a:p>
          <a:p>
            <a:endParaRPr lang="en-US" dirty="0">
              <a:solidFill>
                <a:schemeClr val="bg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BCCC1E-6F67-9B43-3BBF-6357EB339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6</a:t>
            </a:fld>
            <a:endParaRPr lang="LID4096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A52C8A5-95A4-9894-AECB-872BBF15F7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981" t="9685" r="13155" b="20000"/>
          <a:stretch>
            <a:fillRect/>
          </a:stretch>
        </p:blipFill>
        <p:spPr bwMode="auto">
          <a:xfrm>
            <a:off x="6574054" y="2179569"/>
            <a:ext cx="2359171" cy="4221231"/>
          </a:xfrm>
          <a:prstGeom prst="rect">
            <a:avLst/>
          </a:prstGeom>
          <a:noFill/>
          <a:ln w="76200"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0312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51BA7-1E27-A651-048C-48A621FE1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Conclusion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787C8-C27E-BB17-E5A4-04351F23D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849" y="2096727"/>
            <a:ext cx="6376261" cy="4645817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Failures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Schematic capture errors → many wire modifications on PCB</a:t>
            </a:r>
          </a:p>
          <a:p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Learnings                                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Check HW multiple times and take time to review it to avoid having to troubleshoot later during testing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Proper </a:t>
            </a:r>
            <a:r>
              <a:rPr lang="en-US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layouting</a:t>
            </a:r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 techniques and rules for PCBs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Improved confidence in firmware development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Project management and planning</a:t>
            </a:r>
          </a:p>
          <a:p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Future steps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Finish the ESP32 firmware to allow for Bluetooth audio receive/transmit</a:t>
            </a:r>
            <a:endParaRPr lang="LID4096" dirty="0">
              <a:solidFill>
                <a:schemeClr val="bg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A04FB-16DB-1816-6D3C-A0B8301B2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7</a:t>
            </a:fld>
            <a:endParaRPr lang="LID4096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C24CDBB-F03C-EA3F-9666-36724E57F6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93" t="25309" r="17101" b="6947"/>
          <a:stretch>
            <a:fillRect/>
          </a:stretch>
        </p:blipFill>
        <p:spPr bwMode="auto">
          <a:xfrm>
            <a:off x="7437848" y="2096727"/>
            <a:ext cx="2856334" cy="4535079"/>
          </a:xfrm>
          <a:prstGeom prst="rect">
            <a:avLst/>
          </a:prstGeom>
          <a:noFill/>
          <a:ln w="76200"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11645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0</TotalTime>
  <Words>176</Words>
  <Application>Microsoft Office PowerPoint</Application>
  <PresentationFormat>Widescreen</PresentationFormat>
  <Paragraphs>42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Arial</vt:lpstr>
      <vt:lpstr>Trebuchet MS</vt:lpstr>
      <vt:lpstr>Berlin</vt:lpstr>
      <vt:lpstr>Audio Processing and  Ambient Light Control Device</vt:lpstr>
      <vt:lpstr>System Overview &amp; Signal Flow</vt:lpstr>
      <vt:lpstr>Analog Front-End &amp; Output Path</vt:lpstr>
      <vt:lpstr>Digital Signal Processing &amp; Analysis</vt:lpstr>
      <vt:lpstr>Ambient Light Control</vt:lpstr>
      <vt:lpstr>Highlight: Audio Effects &amp; Filter Menu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Grebnevs Bogdans (grebnbog)</dc:creator>
  <cp:lastModifiedBy>Grebnevs Bogdans (grebnbog)</cp:lastModifiedBy>
  <cp:revision>25</cp:revision>
  <dcterms:created xsi:type="dcterms:W3CDTF">2026-01-21T09:58:40Z</dcterms:created>
  <dcterms:modified xsi:type="dcterms:W3CDTF">2026-01-22T08:28:00Z</dcterms:modified>
</cp:coreProperties>
</file>